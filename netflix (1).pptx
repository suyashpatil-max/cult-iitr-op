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5E5E5"/>
                </a:solidFill>
                <a:latin typeface="Arial"/>
              </a:defRPr>
            </a:pPr>
            <a:r>
              <a:rPr sz="1200" b="0" i="0" u="none" strike="noStrike">
                <a:solidFill>
                  <a:srgbClr val="E5E5E5"/>
                </a:solidFill>
                <a:latin typeface="Arial"/>
              </a:rPr>
              <a:t>Rating Distribution (Netflix Prize)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Rating Count (Millions)</c:v>
                </c:pt>
              </c:strCache>
            </c:strRef>
          </c:tx>
          <c:spPr>
            <a:solidFill>
              <a:srgbClr val="40404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0404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0404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5091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5091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50914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1 Star</c:v>
                  </c:pt>
                  <c:pt idx="1">
                    <c:v>2 Stars</c:v>
                  </c:pt>
                  <c:pt idx="2">
                    <c:v>3 Stars</c:v>
                  </c:pt>
                  <c:pt idx="3">
                    <c:v>4 Stars</c:v>
                  </c:pt>
                  <c:pt idx="4">
                    <c:v>5 Stars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6.2</c:v>
                </c:pt>
                <c:pt idx="1">
                  <c:v>11.8</c:v>
                </c:pt>
                <c:pt idx="2">
                  <c:v>26.4</c:v>
                </c:pt>
                <c:pt idx="3">
                  <c:v>33.9</c:v>
                </c:pt>
                <c:pt idx="4">
                  <c:v>22.2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08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4040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08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1E1E"/>
        </a:solidFill>
        <a:ln>
          <a:noFill/>
        </a:ln>
        <a:effectLst/>
      </c:spPr>
    </c:plotArea>
    <c:plotVisOnly val="1"/>
    <c:dispBlanksAs val="span"/>
  </c:chart>
  <c:spPr>
    <a:solidFill>
      <a:srgbClr val="1E1E1E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5E5E5"/>
                </a:solidFill>
                <a:latin typeface="Arial"/>
              </a:defRPr>
            </a:pPr>
            <a:r>
              <a:rPr sz="1200" b="0" i="0" u="none" strike="noStrike">
                <a:solidFill>
                  <a:srgbClr val="E5E5E5"/>
                </a:solidFill>
                <a:latin typeface="Arial"/>
              </a:rPr>
              <a:t>Ranking Metrics Comparison (K=10)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Item-CF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MAP@10</c:v>
                  </c:pt>
                  <c:pt idx="1">
                    <c:v>Precision@10</c:v>
                  </c:pt>
                  <c:pt idx="2">
                    <c:v>Recall@10</c:v>
                  </c:pt>
                  <c:pt idx="3">
                    <c:v>NDCG@10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0.00569</c:v>
                </c:pt>
                <c:pt idx="1">
                  <c:v>0.017</c:v>
                </c:pt>
                <c:pt idx="2">
                  <c:v>0.00673</c:v>
                </c:pt>
                <c:pt idx="3">
                  <c:v>0.0176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SVD</c:v>
                </c:pt>
              </c:strCache>
            </c:strRef>
          </c:tx>
          <c:spPr>
            <a:solidFill>
              <a:srgbClr val="FF5C5C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MAP@10</c:v>
                  </c:pt>
                  <c:pt idx="1">
                    <c:v>Precision@10</c:v>
                  </c:pt>
                  <c:pt idx="2">
                    <c:v>Recall@10</c:v>
                  </c:pt>
                  <c:pt idx="3">
                    <c:v>NDCG@10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0.01369</c:v>
                </c:pt>
                <c:pt idx="1">
                  <c:v>0.0374</c:v>
                </c:pt>
                <c:pt idx="2">
                  <c:v>0.01642</c:v>
                </c:pt>
                <c:pt idx="3">
                  <c:v>0.03911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08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4040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08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1E1E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E5E5E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E1E1E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5E5E5"/>
                </a:solidFill>
                <a:latin typeface="Arial"/>
              </a:defRPr>
            </a:pPr>
            <a:r>
              <a:rPr sz="1100" b="0" i="0" u="none" strike="noStrike">
                <a:solidFill>
                  <a:srgbClr val="E5E5E5"/>
                </a:solidFill>
                <a:latin typeface="Arial"/>
              </a:rPr>
              <a:t>Rating Accuracy (lower =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Item-CF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RMSE</c:v>
                  </c:pt>
                  <c:pt idx="1">
                    <c:v>MAE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0.9422</c:v>
                </c:pt>
                <c:pt idx="1">
                  <c:v>0.7149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SVD</c:v>
                </c:pt>
              </c:strCache>
            </c:strRef>
          </c:tx>
          <c:spPr>
            <a:solidFill>
              <a:srgbClr val="464646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RMSE</c:v>
                  </c:pt>
                  <c:pt idx="1">
                    <c:v>MAE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1.0529</c:v>
                </c:pt>
                <c:pt idx="1">
                  <c:v>0.8852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08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4040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08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1E1E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E5E5E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E1E1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 — introduce the problem, dataset, and two models being compared.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scale and sparsity of the dataset. Emphasize that both models must address this fundamental challenge.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conceptual difference: Item-CF finds similar items; SVD learns compressed representations of users and items.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rating distribution and key EDA insights. Point out positive skew and sparsity as the dominant data characteristics.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the accuracy-ranking trade-off. This is the most important takeaway. Explain why SVD dominates ranking despite worse RMSE.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all 6 metrics. Emphasize: Item-CF wins RMSE/MAE, SVD wins all 4 ranking metrics by 2x+. Both models evaluated on same 500 users.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each model generates recommendations. Highlight Item-CF's explainability as a key differentiator for user trust.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with the roadmap and the core conclusion. Leave the audience with the message: both models have distinct strengths, and a hybrid is the path forward.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0" y="1828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1371600" y="1389888"/>
            <a:ext cx="6400800" cy="0"/>
          </a:xfrm>
          <a:prstGeom prst="line">
            <a:avLst/>
          </a:prstGeom>
          <a:noFill/>
          <a:ln w="25400">
            <a:solidFill>
              <a:srgbClr val="E509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Systems for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0848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Content Discovery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14400" y="285292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Item-Based Collaborative Filtering  ·  Singular Value Decomposition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0" y="3310128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33101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 Prize Dataset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66160" y="3310128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33101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K=10 Evaluation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60720" y="3310128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33101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Users Tested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Engineering Division  ·  Technical Report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" cy="7315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" y="73152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4572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Overview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66928" y="56692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 Prize Dataset  ·  Personalized Recommendation Challenge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4206240" cy="1115568"/>
          </a:xfrm>
          <a:prstGeom prst="roundRect">
            <a:avLst>
              <a:gd name="adj" fmla="val 6557"/>
            </a:avLst>
          </a:prstGeom>
          <a:solidFill>
            <a:srgbClr val="1E1E1E"/>
          </a:solidFill>
          <a:ln w="6350">
            <a:solidFill>
              <a:srgbClr val="40404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97280"/>
            <a:ext cx="201168" cy="1115568"/>
          </a:xfrm>
          <a:prstGeom prst="roundRect">
            <a:avLst>
              <a:gd name="adj" fmla="val 18182"/>
            </a:avLst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1521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141732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100M+ ratings, 480K users, 17,770 movies — but each user has seen only a tiny fraction. Extreme sparsity makes recommendation hard.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340864"/>
            <a:ext cx="4206240" cy="1115568"/>
          </a:xfrm>
          <a:prstGeom prst="roundRect">
            <a:avLst>
              <a:gd name="adj" fmla="val 6557"/>
            </a:avLst>
          </a:prstGeom>
          <a:solidFill>
            <a:srgbClr val="1E1E1E"/>
          </a:solidFill>
          <a:ln w="6350">
            <a:solidFill>
              <a:srgbClr val="40404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340864"/>
            <a:ext cx="201168" cy="1115568"/>
          </a:xfrm>
          <a:prstGeom prst="roundRect">
            <a:avLst>
              <a:gd name="adj" fmla="val 18182"/>
            </a:avLst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3957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" y="2660904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 system that learns user preferences and surfaces content they would love — without them having to search for it.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584448"/>
            <a:ext cx="4206240" cy="1115568"/>
          </a:xfrm>
          <a:prstGeom prst="roundRect">
            <a:avLst>
              <a:gd name="adj" fmla="val 6557"/>
            </a:avLst>
          </a:prstGeom>
          <a:solidFill>
            <a:srgbClr val="1E1E1E"/>
          </a:solidFill>
          <a:ln w="6350">
            <a:solidFill>
              <a:srgbClr val="40404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584448"/>
            <a:ext cx="201168" cy="1115568"/>
          </a:xfrm>
          <a:prstGeom prst="roundRect">
            <a:avLst>
              <a:gd name="adj" fmla="val 18182"/>
            </a:avLst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6393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Task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6928" y="3904488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unseen ratings accurately (RMSE) AND generate Top-10 recommendation lists users will actually engage with (MAP@10).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54880" y="11155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FACTS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481328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1E1E1E"/>
          </a:solidFill>
          <a:ln w="6350">
            <a:solidFill>
              <a:srgbClr val="40404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28032" y="1554480"/>
            <a:ext cx="1773936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100,480,507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828032" y="2133295"/>
            <a:ext cx="1773936" cy="336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Ratings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0" y="1481328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1E1E1E"/>
          </a:solidFill>
          <a:ln w="6350">
            <a:solidFill>
              <a:srgbClr val="40404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931152" y="1554480"/>
            <a:ext cx="1773936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480,189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931152" y="2133295"/>
            <a:ext cx="1773936" cy="336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Users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670048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1E1E1E"/>
          </a:solidFill>
          <a:ln w="6350">
            <a:solidFill>
              <a:srgbClr val="40404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28032" y="2743200"/>
            <a:ext cx="1773936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17,770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4828032" y="3322015"/>
            <a:ext cx="1773936" cy="336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Movies in Corpus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858000" y="2670048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1E1E1E"/>
          </a:solidFill>
          <a:ln w="6350">
            <a:solidFill>
              <a:srgbClr val="40404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931152" y="2743200"/>
            <a:ext cx="1773936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– 5 ★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6931152" y="3322015"/>
            <a:ext cx="1773936" cy="336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Scale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393192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1A0305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40050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Sparsity Challenge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92040" y="424281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user rated &lt; 0.05% of available movies — making pattern extraction extremely difficult.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" cy="7315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" y="73152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4572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Two Recommendation Paradigms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66928" y="56692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Design  ·  Architecture  ·  Key Parameters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078992"/>
            <a:ext cx="4206240" cy="3749040"/>
          </a:xfrm>
          <a:prstGeom prst="roundRect">
            <a:avLst>
              <a:gd name="adj" fmla="val 1951"/>
            </a:avLst>
          </a:prstGeom>
          <a:solidFill>
            <a:srgbClr val="1E1E1E"/>
          </a:solidFill>
          <a:ln w="15240">
            <a:solidFill>
              <a:srgbClr val="E5091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1887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Item-CF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11480" y="15544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Item-Based Collaborative Filtering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828800"/>
            <a:ext cx="3840480" cy="0"/>
          </a:xfrm>
          <a:prstGeom prst="line">
            <a:avLst/>
          </a:prstGeom>
          <a:noFill/>
          <a:ln w="6350">
            <a:solidFill>
              <a:srgbClr val="404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920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Adjusted Cosine Similarity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331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User-mean centering removes rating bias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743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Top-50 similar neighbours per item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154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Similarity-weighted rating prediction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566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explainability engine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3977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"Because you liked X, watch Y"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078992"/>
            <a:ext cx="4206240" cy="3749040"/>
          </a:xfrm>
          <a:prstGeom prst="roundRect">
            <a:avLst>
              <a:gd name="adj" fmla="val 1951"/>
            </a:avLst>
          </a:prstGeom>
          <a:solidFill>
            <a:srgbClr val="1E1E1E"/>
          </a:solidFill>
          <a:ln w="15240">
            <a:solidFill>
              <a:srgbClr val="FF5C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11887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SVD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800600" y="15544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Singular Value Decomposition (Surprise)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1828800"/>
            <a:ext cx="3840480" cy="0"/>
          </a:xfrm>
          <a:prstGeom prst="line">
            <a:avLst/>
          </a:prstGeom>
          <a:noFill/>
          <a:ln w="6350">
            <a:solidFill>
              <a:srgbClr val="4040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920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Latent Factors (user &amp; item vectors)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2331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SGD epochs, lr = 0.005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2743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regularisation (λ = 0.1)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00600" y="3154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+ user + item bias terms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00600" y="3566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Optimises: min Σ (r - μ - b_u - b_i - p·q)²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00600" y="3977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dot-product predictions at serving time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288536" y="4370832"/>
            <a:ext cx="566928" cy="566928"/>
          </a:xfrm>
          <a:prstGeom prst="ellipse">
            <a:avLst/>
          </a:prstGeom>
          <a:solidFill>
            <a:srgbClr val="141414"/>
          </a:solidFill>
          <a:ln w="19050">
            <a:solidFill>
              <a:srgbClr val="E5091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88536" y="4370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" cy="7315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" y="73152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4572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Data Analysis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66928" y="56692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Distribution  ·  User Activity  ·  Data Sparsity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1078992"/>
          <a:ext cx="47548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212080" y="1078992"/>
            <a:ext cx="3749040" cy="1078992"/>
          </a:xfrm>
          <a:prstGeom prst="roundRect">
            <a:avLst>
              <a:gd name="adj" fmla="val 6780"/>
            </a:avLst>
          </a:prstGeom>
          <a:solidFill>
            <a:srgbClr val="1E1E1E"/>
          </a:solidFill>
          <a:ln w="6350">
            <a:solidFill>
              <a:srgbClr val="40404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34924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⭐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833872" y="1143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Skew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33872" y="1408176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4-star ratings dominate (33.9%). Users rate movies they chose to watch — selection bias is inherent.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212080" y="2286000"/>
            <a:ext cx="3749040" cy="1078992"/>
          </a:xfrm>
          <a:prstGeom prst="roundRect">
            <a:avLst>
              <a:gd name="adj" fmla="val 6780"/>
            </a:avLst>
          </a:prstGeom>
          <a:solidFill>
            <a:srgbClr val="1E1E1E"/>
          </a:solidFill>
          <a:ln w="6350">
            <a:solidFill>
              <a:srgbClr val="40404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349240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833872" y="23500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Users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833872" y="2615184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1% of users account for ~20% of all ratings. Heavy-tail distribution in user activity.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212080" y="3493008"/>
            <a:ext cx="3749040" cy="1078992"/>
          </a:xfrm>
          <a:prstGeom prst="roundRect">
            <a:avLst>
              <a:gd name="adj" fmla="val 6780"/>
            </a:avLst>
          </a:prstGeom>
          <a:solidFill>
            <a:srgbClr val="1E1E1E"/>
          </a:solidFill>
          <a:ln w="6350">
            <a:solidFill>
              <a:srgbClr val="40404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349240" y="3557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🎬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5833872" y="35570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Tail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833872" y="3822192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500 movies get 40%+ of all ratings. Most movies have very few raters (cold-start challenge).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212080" y="4718304"/>
            <a:ext cx="3749040" cy="384048"/>
          </a:xfrm>
          <a:prstGeom prst="roundRect">
            <a:avLst>
              <a:gd name="adj" fmla="val 19048"/>
            </a:avLst>
          </a:prstGeom>
          <a:solidFill>
            <a:srgbClr val="1A0305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349240" y="471830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Matrix Sparsity: </a:t>
            </a:r>
            <a:pPr indent="0" marL="0">
              <a:buNone/>
            </a:pPr>
            <a:r>
              <a:rPr lang="en-US" sz="95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&gt;99.95%  —  a core challenge for both models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" cy="7315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" y="73152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4572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66928" y="56692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Results Reveal About Recommendation Quality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078992"/>
            <a:ext cx="8595360" cy="1170432"/>
          </a:xfrm>
          <a:prstGeom prst="roundRect">
            <a:avLst>
              <a:gd name="adj" fmla="val 6250"/>
            </a:avLst>
          </a:prstGeom>
          <a:solidFill>
            <a:srgbClr val="1A0305"/>
          </a:solidFill>
          <a:ln w="19050">
            <a:solidFill>
              <a:srgbClr val="E5091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1704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Finding: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0" y="114300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accuracy and ranking quality are decoupled — Item-CF predicts ratings better, but SVD recommends more effectively.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74320" y="2395728"/>
            <a:ext cx="4206240" cy="1261872"/>
          </a:xfrm>
          <a:prstGeom prst="roundRect">
            <a:avLst>
              <a:gd name="adj" fmla="val 5797"/>
            </a:avLst>
          </a:prstGeom>
          <a:solidFill>
            <a:srgbClr val="1E1E1E"/>
          </a:solidFill>
          <a:ln w="6350">
            <a:solidFill>
              <a:srgbClr val="40404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" y="2487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24871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Adjusted Cosine Beats Raw Cosine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68680" y="2779776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Mean-centering user ratings before computing similarity removes individual rating bias. Item-CF achieves RMSE 0.9422 vs SVD's 1.0529 — a 10.5% improvement in rating accuracy.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2395728"/>
            <a:ext cx="4206240" cy="1261872"/>
          </a:xfrm>
          <a:prstGeom prst="roundRect">
            <a:avLst>
              <a:gd name="adj" fmla="val 5797"/>
            </a:avLst>
          </a:prstGeom>
          <a:solidFill>
            <a:srgbClr val="1E1E1E"/>
          </a:solidFill>
          <a:ln w="6350">
            <a:solidFill>
              <a:srgbClr val="40404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18888" y="2487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03520" y="24871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Latent Factors Win on Ranking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303520" y="2779776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SVD's latent representation captures global taste structure, surfacing relevant content 2.4× more effectively than Item-CF on MAP@10 (0.01369 vs 0.00569).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767328"/>
            <a:ext cx="4206240" cy="1261872"/>
          </a:xfrm>
          <a:prstGeom prst="roundRect">
            <a:avLst>
              <a:gd name="adj" fmla="val 5797"/>
            </a:avLst>
          </a:prstGeom>
          <a:solidFill>
            <a:srgbClr val="1E1E1E"/>
          </a:solidFill>
          <a:ln w="6350">
            <a:solidFill>
              <a:srgbClr val="40404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84048" y="3858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68680" y="38587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Massive Speed Advantage for SVD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68680" y="4151376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SVD evaluates 38× faster on RMSE and 16× faster on ranking. At production scale, SVD's O(n_factors) prediction is far more deployable than Item-CF's neighbour intersection.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3767328"/>
            <a:ext cx="4206240" cy="1261872"/>
          </a:xfrm>
          <a:prstGeom prst="roundRect">
            <a:avLst>
              <a:gd name="adj" fmla="val 5797"/>
            </a:avLst>
          </a:prstGeom>
          <a:solidFill>
            <a:srgbClr val="1E1E1E"/>
          </a:solidFill>
          <a:ln w="6350">
            <a:solidFill>
              <a:srgbClr val="40404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18888" y="3858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03520" y="38587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Sparsity Limits Both Models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303520" y="4151376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MAP@10 &lt; 0.02 for both models reflects the inherent challenge: the chance any top-10 list overlaps with the user's specific test preferences is low in a 17K-movie space.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" cy="7315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" y="73152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4572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Results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66928" y="56692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Metric Comparison  ·  500 Users  ·  K = 10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1097280"/>
          <a:ext cx="5303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5760720" y="1097280"/>
          <a:ext cx="320040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5760720" y="3218688"/>
            <a:ext cx="1554480" cy="1417320"/>
          </a:xfrm>
          <a:prstGeom prst="roundRect">
            <a:avLst>
              <a:gd name="adj" fmla="val 5161"/>
            </a:avLst>
          </a:prstGeom>
          <a:solidFill>
            <a:srgbClr val="1E1E1E"/>
          </a:solidFill>
          <a:ln w="19050">
            <a:solidFill>
              <a:srgbClr val="E5091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5833872" y="32918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Accuracy Winner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5833872" y="35661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Item-CF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5833872" y="4059936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 0.9422 vs 1.0529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7479792" y="3218688"/>
            <a:ext cx="1554480" cy="1417320"/>
          </a:xfrm>
          <a:prstGeom prst="roundRect">
            <a:avLst>
              <a:gd name="adj" fmla="val 5161"/>
            </a:avLst>
          </a:prstGeom>
          <a:solidFill>
            <a:srgbClr val="1E1E1E"/>
          </a:solidFill>
          <a:ln w="19050">
            <a:solidFill>
              <a:srgbClr val="FF5C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7552944" y="32918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 Quality Winner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7552944" y="35661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SVD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7552944" y="4059936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MAP@10 2.4× higher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5760720" y="4718304"/>
            <a:ext cx="3200400" cy="365760"/>
          </a:xfrm>
          <a:prstGeom prst="roundRect">
            <a:avLst>
              <a:gd name="adj" fmla="val 20000"/>
            </a:avLst>
          </a:prstGeom>
          <a:solidFill>
            <a:srgbClr val="1A0508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70448" y="4718304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SVD is 38× faster to evaluate than Item-CF  (8.8s vs 339.9s for RMSE)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" cy="7315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" y="73152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4572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Examples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66928" y="56692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Top-10 Outputs  ·  Explainability  ·  User-Facing Results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078992"/>
            <a:ext cx="4206240" cy="3749040"/>
          </a:xfrm>
          <a:prstGeom prst="roundRect">
            <a:avLst>
              <a:gd name="adj" fmla="val 1951"/>
            </a:avLst>
          </a:prstGeom>
          <a:solidFill>
            <a:srgbClr val="1E1E1E"/>
          </a:solidFill>
          <a:ln w="6350">
            <a:solidFill>
              <a:srgbClr val="40404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1704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Item-CF Output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4447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Explainability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691640"/>
            <a:ext cx="3749040" cy="0"/>
          </a:xfrm>
          <a:prstGeom prst="line">
            <a:avLst/>
          </a:prstGeom>
          <a:noFill/>
          <a:ln w="6350">
            <a:solidFill>
              <a:srgbClr val="4040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783080"/>
            <a:ext cx="3749040" cy="1115568"/>
          </a:xfrm>
          <a:prstGeom prst="roundRect">
            <a:avLst>
              <a:gd name="adj" fmla="val 6557"/>
            </a:avLst>
          </a:prstGeom>
          <a:solidFill>
            <a:srgbClr val="1A0305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828800"/>
            <a:ext cx="3566160" cy="9875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pPr algn="l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you liked </a:t>
            </a:r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Shawshank Redemption (5★) </a:t>
            </a:r>
            <a:pPr algn="l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Forrest Gump (4★)</a:t>
            </a:r>
            <a:pPr algn="l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 we recommend </a:t>
            </a:r>
            <a:pPr algn="l" indent="0" marL="0">
              <a:buNone/>
            </a:pPr>
            <a:r>
              <a:rPr lang="en-US" sz="10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Green Mile</a:t>
            </a:r>
            <a:pPr algn="l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(similarity: 0.847)</a:t>
            </a:r>
            <a:pPr algn="l" indent="0" marL="0">
              <a:buNone/>
            </a:pPr>
            <a:r>
              <a:rPr lang="en-US" sz="22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11480" y="29809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Top-5 Sample Recommendations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2186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Green Mile  </a:t>
            </a:r>
            <a:pPr indent="0" marL="0">
              <a:buNone/>
            </a:pPr>
            <a:r>
              <a:rPr lang="en-US" sz="105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4.91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1480" y="35387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Schindler's List  </a:t>
            </a:r>
            <a:pPr indent="0" marL="0">
              <a:buNone/>
            </a:pPr>
            <a:r>
              <a:rPr lang="en-US" sz="105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4.87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3858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Goodfellas  </a:t>
            </a:r>
            <a:pPr indent="0" marL="0">
              <a:buNone/>
            </a:pPr>
            <a:r>
              <a:rPr lang="en-US" sz="105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4.82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1480" y="41788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Godfather  </a:t>
            </a:r>
            <a:pPr indent="0" marL="0">
              <a:buNone/>
            </a:pPr>
            <a:r>
              <a:rPr lang="en-US" sz="105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4.79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1480" y="44988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#5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 Private Ryan  </a:t>
            </a:r>
            <a:pPr indent="0" marL="0">
              <a:buNone/>
            </a:pPr>
            <a:r>
              <a:rPr lang="en-US" sz="105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4.74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1078992"/>
            <a:ext cx="4206240" cy="3749040"/>
          </a:xfrm>
          <a:prstGeom prst="roundRect">
            <a:avLst>
              <a:gd name="adj" fmla="val 1951"/>
            </a:avLst>
          </a:prstGeom>
          <a:solidFill>
            <a:srgbClr val="1E1E1E"/>
          </a:solidFill>
          <a:ln w="6350">
            <a:solidFill>
              <a:srgbClr val="40404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00600" y="11704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SVD Output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00600" y="14447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Latent Factor Rankings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00600" y="1691640"/>
            <a:ext cx="3749040" cy="0"/>
          </a:xfrm>
          <a:prstGeom prst="line">
            <a:avLst/>
          </a:prstGeom>
          <a:noFill/>
          <a:ln w="6350">
            <a:solidFill>
              <a:srgbClr val="4040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1783080"/>
            <a:ext cx="3749040" cy="1115568"/>
          </a:xfrm>
          <a:prstGeom prst="roundRect">
            <a:avLst>
              <a:gd name="adj" fmla="val 6557"/>
            </a:avLst>
          </a:prstGeom>
          <a:solidFill>
            <a:srgbClr val="1A0508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19019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= μ + b_user + b_item + p_user · q_item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2040" y="223113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unseen movies scored via dot product of 100-dimensional latent vectors. Top-10 returned ranked by predicted score.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00600" y="29809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Top-5 Sample Recommendations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00600" y="32186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 #3245  </a:t>
            </a:r>
            <a:pPr indent="0" marL="0">
              <a:buNone/>
            </a:pPr>
            <a:r>
              <a:rPr lang="en-US" sz="105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4.82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00600" y="35387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 #1897  </a:t>
            </a:r>
            <a:pPr indent="0" marL="0">
              <a:buNone/>
            </a:pPr>
            <a:r>
              <a:rPr lang="en-US" sz="105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4.79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00600" y="3858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 #7612  </a:t>
            </a:r>
            <a:pPr indent="0" marL="0">
              <a:buNone/>
            </a:pPr>
            <a:r>
              <a:rPr lang="en-US" sz="105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4.75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00600" y="41788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 #2341  </a:t>
            </a:r>
            <a:pPr indent="0" marL="0">
              <a:buNone/>
            </a:pPr>
            <a:r>
              <a:rPr lang="en-US" sz="105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4.72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00600" y="44988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#5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 #5098  </a:t>
            </a:r>
            <a:pPr indent="0" marL="0">
              <a:buNone/>
            </a:pPr>
            <a:r>
              <a:rPr lang="en-US" sz="105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4.69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" y="73152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4572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Improvements  &amp;  Conclusion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5943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 ·  Next Steps  ·  Summary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2788920" cy="2999232"/>
          </a:xfrm>
          <a:prstGeom prst="roundRect">
            <a:avLst>
              <a:gd name="adj" fmla="val 2623"/>
            </a:avLst>
          </a:prstGeom>
          <a:solidFill>
            <a:srgbClr val="1E1E1E"/>
          </a:solidFill>
          <a:ln w="6350">
            <a:solidFill>
              <a:srgbClr val="40404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4048" y="1188720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SHORT-TERM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4048" y="1536192"/>
            <a:ext cx="2542032" cy="0"/>
          </a:xfrm>
          <a:prstGeom prst="line">
            <a:avLst/>
          </a:prstGeom>
          <a:noFill/>
          <a:ln w="6350">
            <a:solidFill>
              <a:srgbClr val="404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609344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</a:t>
            </a:r>
            <a:pPr indent="0" marL="0">
              <a:buNone/>
            </a:pPr>
            <a:r>
              <a:rPr lang="en-US" sz="10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SVD hyperparameter tuning (GridSearchCV)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84048" y="2157984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</a:t>
            </a:r>
            <a:pPr indent="0" marL="0">
              <a:buNone/>
            </a:pPr>
            <a:r>
              <a:rPr lang="en-US" sz="10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to all 4 Netflix data files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84048" y="2706624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</a:t>
            </a:r>
            <a:pPr indent="0" marL="0">
              <a:buNone/>
            </a:pPr>
            <a:r>
              <a:rPr lang="en-US" sz="10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Vectorise Item-CF batch prediction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84048" y="3255264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</a:t>
            </a:r>
            <a:pPr indent="0" marL="0">
              <a:buNone/>
            </a:pPr>
            <a:r>
              <a:rPr lang="en-US" sz="10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min common raters threshold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27832" y="1115568"/>
            <a:ext cx="2788920" cy="2999232"/>
          </a:xfrm>
          <a:prstGeom prst="roundRect">
            <a:avLst>
              <a:gd name="adj" fmla="val 2623"/>
            </a:avLst>
          </a:prstGeom>
          <a:solidFill>
            <a:srgbClr val="1E1E1E"/>
          </a:solidFill>
          <a:ln w="6350">
            <a:solidFill>
              <a:srgbClr val="40404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37560" y="1188720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 MEDIUM-TERM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37560" y="1536192"/>
            <a:ext cx="2542032" cy="0"/>
          </a:xfrm>
          <a:prstGeom prst="line">
            <a:avLst/>
          </a:prstGeom>
          <a:noFill/>
          <a:ln w="6350">
            <a:solidFill>
              <a:srgbClr val="404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609344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</a:t>
            </a:r>
            <a:pPr indent="0" marL="0">
              <a:buNone/>
            </a:pPr>
            <a:r>
              <a:rPr lang="en-US" sz="10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Alternating Least Squares (ALS)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337560" y="2157984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</a:t>
            </a:r>
            <a:pPr indent="0" marL="0">
              <a:buNone/>
            </a:pPr>
            <a:r>
              <a:rPr lang="en-US" sz="10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Collaborative Filtering (NCF)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37560" y="2706624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</a:t>
            </a:r>
            <a:pPr indent="0" marL="0">
              <a:buNone/>
            </a:pPr>
            <a:r>
              <a:rPr lang="en-US" sz="10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rating decay &amp; dynamics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337560" y="3255264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</a:t>
            </a:r>
            <a:pPr indent="0" marL="0">
              <a:buNone/>
            </a:pPr>
            <a:r>
              <a:rPr lang="en-US" sz="10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Hybrid: Item-CF + SVD ensemble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181344" y="1115568"/>
            <a:ext cx="2788920" cy="2999232"/>
          </a:xfrm>
          <a:prstGeom prst="roundRect">
            <a:avLst>
              <a:gd name="adj" fmla="val 2623"/>
            </a:avLst>
          </a:prstGeom>
          <a:solidFill>
            <a:srgbClr val="1E1E1E"/>
          </a:solidFill>
          <a:ln w="6350">
            <a:solidFill>
              <a:srgbClr val="40404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91072" y="1188720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 LONG-TERM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91072" y="1536192"/>
            <a:ext cx="2542032" cy="0"/>
          </a:xfrm>
          <a:prstGeom prst="line">
            <a:avLst/>
          </a:prstGeom>
          <a:noFill/>
          <a:ln w="6350">
            <a:solidFill>
              <a:srgbClr val="4040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91072" y="1609344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</a:t>
            </a:r>
            <a:pPr indent="0" marL="0">
              <a:buNone/>
            </a:pPr>
            <a:r>
              <a:rPr lang="en-US" sz="10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Neural Networks (LightGCN)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291072" y="2157984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</a:t>
            </a:r>
            <a:pPr indent="0" marL="0">
              <a:buNone/>
            </a:pPr>
            <a:r>
              <a:rPr lang="en-US" sz="10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LLM-powered semantic embeddings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291072" y="2706624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</a:t>
            </a:r>
            <a:pPr indent="0" marL="0">
              <a:buNone/>
            </a:pPr>
            <a:r>
              <a:rPr lang="en-US" sz="10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Diversity &amp; serendipity optimisation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291072" y="3255264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</a:t>
            </a:r>
            <a:pPr indent="0" marL="0">
              <a:buNone/>
            </a:pPr>
            <a:r>
              <a:rPr lang="en-US" sz="10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Cold-start content-based fallback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74320" y="4279392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1A0305"/>
          </a:solidFill>
          <a:ln w="19050">
            <a:solidFill>
              <a:srgbClr val="E5091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38912" y="4352544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Conclusion: </a:t>
            </a:r>
            <a:pPr indent="0" marL="0">
              <a:buNone/>
            </a:pPr>
            <a:r>
              <a:rPr lang="en-US" sz="105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Item-CF delivers superior rating accuracy (RMSE 0.9422) with built-in explainability. SVD delivers superior ranking quality (MAP@10 2.4× higher) with 38× faster inference.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approaches combining both are the natural next step.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Recommendation Systems for Personalized Content Discovery</dc:title>
  <dc:subject>PptxGenJS Presentation</dc:subject>
  <dc:creator>ML Engineering Division</dc:creator>
  <cp:lastModifiedBy>ML Engineering Division</cp:lastModifiedBy>
  <cp:revision>1</cp:revision>
  <dcterms:created xsi:type="dcterms:W3CDTF">2026-06-12T09:37:04Z</dcterms:created>
  <dcterms:modified xsi:type="dcterms:W3CDTF">2026-06-12T09:37:04Z</dcterms:modified>
</cp:coreProperties>
</file>